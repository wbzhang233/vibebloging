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96928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59767" y="0"/>
            <a:ext cx="54864" cy="68580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22608" y="0"/>
            <a:ext cx="54864" cy="6858000"/>
          </a:xfrm>
          <a:prstGeom prst="rect">
            <a:avLst/>
          </a:prstGeom>
          <a:solidFill>
            <a:srgbClr val="1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Times New Roman"/>
                <a:ea typeface="Times New Roman"/>
              </a:rPr>
              <a:t>Claude Code</a:t>
            </a:r>
          </a:p>
          <a:p>
            <a:pPr algn="l"/>
            <a:r>
              <a:rPr sz="5000" b="1" i="0">
                <a:solidFill>
                  <a:srgbClr val="93C5FD"/>
                </a:solidFill>
                <a:latin typeface="楷体"/>
                <a:ea typeface="楷体"/>
              </a:rPr>
              <a:t>精密拆解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7DA8E8"/>
                </a:solidFill>
                <a:latin typeface="楷体"/>
                <a:ea typeface="楷体"/>
              </a:rPr>
              <a:t>一台精密的 Harness 工程机器  ·  七大子系统全解析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794760"/>
            <a:ext cx="1133856" cy="347472"/>
          </a:xfrm>
          <a:prstGeom prst="roundRect">
            <a:avLst>
              <a:gd name="adj" fmla="val 4000"/>
            </a:avLst>
          </a:prstGeom>
          <a:solidFill>
            <a:srgbClr val="0D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93C5FD"/>
                </a:solidFill>
                <a:latin typeface="楷体"/>
                <a:ea typeface="楷体"/>
              </a:rPr>
              <a:t>四层架构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92807" y="3794760"/>
            <a:ext cx="2093976" cy="347472"/>
          </a:xfrm>
          <a:prstGeom prst="roundRect">
            <a:avLst>
              <a:gd name="adj" fmla="val 4000"/>
            </a:avLst>
          </a:prstGeom>
          <a:solidFill>
            <a:srgbClr val="0D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93C5FD"/>
                </a:solidFill>
                <a:latin typeface="Times New Roman"/>
                <a:ea typeface="Times New Roman"/>
              </a:rPr>
              <a:t>QueryLoop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51376" y="3794760"/>
            <a:ext cx="1133856" cy="347472"/>
          </a:xfrm>
          <a:prstGeom prst="roundRect">
            <a:avLst>
              <a:gd name="adj" fmla="val 4000"/>
            </a:avLst>
          </a:prstGeom>
          <a:solidFill>
            <a:srgbClr val="0D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93C5FD"/>
                </a:solidFill>
                <a:latin typeface="楷体"/>
                <a:ea typeface="楷体"/>
              </a:rPr>
              <a:t>权限引擎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9824" y="3794760"/>
            <a:ext cx="1133856" cy="347472"/>
          </a:xfrm>
          <a:prstGeom prst="roundRect">
            <a:avLst>
              <a:gd name="adj" fmla="val 4000"/>
            </a:avLst>
          </a:prstGeom>
          <a:solidFill>
            <a:srgbClr val="0D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93C5FD"/>
                </a:solidFill>
                <a:latin typeface="楷体"/>
                <a:ea typeface="楷体"/>
              </a:rPr>
              <a:t>工具并发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794760"/>
            <a:ext cx="1133856" cy="347472"/>
          </a:xfrm>
          <a:prstGeom prst="roundRect">
            <a:avLst>
              <a:gd name="adj" fmla="val 4000"/>
            </a:avLst>
          </a:prstGeom>
          <a:solidFill>
            <a:srgbClr val="0D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93C5FD"/>
                </a:solidFill>
                <a:latin typeface="楷体"/>
                <a:ea typeface="楷体"/>
              </a:rPr>
              <a:t>记忆体系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94760"/>
            <a:ext cx="3438144" cy="347472"/>
          </a:xfrm>
          <a:prstGeom prst="roundRect">
            <a:avLst>
              <a:gd name="adj" fmla="val 4000"/>
            </a:avLst>
          </a:prstGeom>
          <a:solidFill>
            <a:srgbClr val="0D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93C5FD"/>
                </a:solidFill>
                <a:latin typeface="Times New Roman"/>
                <a:ea typeface="Times New Roman"/>
              </a:rPr>
              <a:t>MCP·Hooks·Skills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7220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A455E"/>
                </a:solidFill>
                <a:latin typeface="Times New Roman"/>
                <a:ea typeface="Times New Roman"/>
              </a:rPr>
              <a:t>基于源码 zhangbo2008/claude_code_annotated + shareAI-lab/learn-claude-code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0" y="2743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A455E"/>
                </a:solidFill>
                <a:latin typeface="Times New Roman"/>
                <a:ea typeface="Times New Roman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楷体"/>
                <a:ea typeface="楷体"/>
              </a:rPr>
              <a:t>目  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11556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293B"/>
                </a:solidFill>
                <a:latin typeface="楷体"/>
                <a:ea typeface="楷体"/>
              </a:rPr>
              <a:t>这台机器是什么？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44752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Times New Roman"/>
                <a:ea typeface="Times New Roman"/>
              </a:rPr>
              <a:t>Harness Engineering Paradigm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09728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11556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293B"/>
                </a:solidFill>
                <a:latin typeface="楷体"/>
                <a:ea typeface="楷体"/>
              </a:rPr>
              <a:t>四层体系总览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444752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Times New Roman"/>
                <a:ea typeface="Times New Roman"/>
              </a:rPr>
              <a:t>L1 Execution → L4 Extension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76272"/>
            <a:ext cx="475488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1945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293B"/>
                </a:solidFill>
                <a:latin typeface="楷体"/>
                <a:ea typeface="楷体"/>
              </a:rPr>
              <a:t>启动序列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23744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Times New Roman"/>
                <a:ea typeface="Times New Roman"/>
              </a:rPr>
              <a:t>7-Phase Initialization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176272"/>
            <a:ext cx="475488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1945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293B"/>
                </a:solidFill>
                <a:latin typeface="楷体"/>
                <a:ea typeface="楷体"/>
              </a:rPr>
              <a:t>一次请求的旅程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523744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Times New Roman"/>
                <a:ea typeface="Times New Roman"/>
              </a:rPr>
              <a:t>QueryLoop Execution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55263"/>
            <a:ext cx="475488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273551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293B"/>
                </a:solidFill>
                <a:latin typeface="楷体"/>
                <a:ea typeface="楷体"/>
              </a:rPr>
              <a:t>工具执行引擎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602735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Times New Roman"/>
                <a:ea typeface="Times New Roman"/>
              </a:rPr>
              <a:t>45+ Tools Concurrent Scheduling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255263"/>
            <a:ext cx="475488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273551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293B"/>
                </a:solidFill>
                <a:latin typeface="楷体"/>
                <a:ea typeface="楷体"/>
              </a:rPr>
              <a:t>权限决策引擎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602735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Times New Roman"/>
                <a:ea typeface="Times New Roman"/>
              </a:rPr>
              <a:t>5-Mode Security 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34256"/>
            <a:ext cx="475488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52544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293B"/>
                </a:solidFill>
                <a:latin typeface="楷体"/>
                <a:ea typeface="楷体"/>
              </a:rPr>
              <a:t>上下文压缩系统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68172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Times New Roman"/>
                <a:ea typeface="Times New Roman"/>
              </a:rPr>
              <a:t>6-Strategy Token Management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334256"/>
            <a:ext cx="475488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352544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293B"/>
                </a:solidFill>
                <a:latin typeface="楷体"/>
                <a:ea typeface="楷体"/>
              </a:rPr>
              <a:t>记忆与提示组装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68172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Times New Roman"/>
                <a:ea typeface="Times New Roman"/>
              </a:rPr>
              <a:t>4-Layer Memory · Prompt Cache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1324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431536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293B"/>
                </a:solidFill>
                <a:latin typeface="楷体"/>
                <a:ea typeface="楷体"/>
              </a:rPr>
              <a:t>扩展能力三件套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7607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Times New Roman"/>
                <a:ea typeface="Times New Roman"/>
              </a:rPr>
              <a:t>Hooks · MCP · Skills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541324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431536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293B"/>
                </a:solidFill>
                <a:latin typeface="楷体"/>
                <a:ea typeface="楷体"/>
              </a:rPr>
              <a:t>关键设计哲学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7607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Times New Roman"/>
                <a:ea typeface="Times New Roman"/>
              </a:rPr>
              <a:t>Core Insights &amp;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楷体"/>
                <a:ea typeface="楷体"/>
              </a:rPr>
              <a:t>01  |  这台机器是什么？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AD0F8"/>
                </a:solidFill>
                <a:latin typeface="Times New Roman"/>
                <a:ea typeface="Times New Roman"/>
              </a:rPr>
              <a:t>Harness Engineering Paradigm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3566160" cy="438912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DC2626"/>
                </a:solidFill>
                <a:latin typeface="楷体"/>
                <a:ea typeface="楷体"/>
              </a:rPr>
              <a:t>❌  常见误解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64208"/>
            <a:ext cx="3566160" cy="132588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楷体"/>
                <a:ea typeface="楷体"/>
              </a:rPr>
              <a:t>Claude Code 只是一个</a:t>
            </a:r>
          </a:p>
          <a:p>
            <a:pPr algn="l"/>
            <a:r>
              <a:rPr sz="1500" b="1" i="0">
                <a:solidFill>
                  <a:srgbClr val="DC2626"/>
                </a:solidFill>
                <a:latin typeface="楷体"/>
                <a:ea typeface="楷体"/>
              </a:rPr>
              <a:t>「在终端里问问题」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楷体"/>
                <a:ea typeface="楷体"/>
              </a:rPr>
              <a:t>的聊天工具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9080" y="3017520"/>
            <a:ext cx="41148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3337560"/>
            <a:ext cx="3566160" cy="438912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59669"/>
                </a:solidFill>
                <a:latin typeface="楷体"/>
                <a:ea typeface="楷体"/>
              </a:rPr>
              <a:t>✅  真相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858768"/>
            <a:ext cx="3566160" cy="118872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E293B"/>
                </a:solidFill>
                <a:latin typeface="楷体"/>
                <a:ea typeface="楷体"/>
              </a:rPr>
              <a:t>它是一套精密的
Harness 工程体系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097280"/>
            <a:ext cx="7406640" cy="516636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23444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D4ED8"/>
                </a:solidFill>
                <a:latin typeface="楷体"/>
                <a:ea typeface="楷体"/>
              </a:rPr>
              <a:t>Harness 工程范式  Harness Engineering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783080"/>
            <a:ext cx="365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1D4ED8"/>
                </a:solidFill>
                <a:latin typeface="Times New Roman"/>
                <a:ea typeface="Times New Roman"/>
              </a:rP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783080"/>
            <a:ext cx="6583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F172A"/>
                </a:solidFill>
                <a:latin typeface="楷体"/>
                <a:ea typeface="楷体"/>
              </a:rPr>
              <a:t>Harness（驱动层）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30552"/>
            <a:ext cx="64922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为 LLM 提供可操作的执行环境，让推理结果能真实影响文件系统、Shell、IDE、MCP 服务。这是 Claude Code 的「躯壳」。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71800"/>
            <a:ext cx="365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1D4ED8"/>
                </a:solidFill>
                <a:latin typeface="Times New Roman"/>
                <a:ea typeface="Times New Roman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971800"/>
            <a:ext cx="6583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F172A"/>
                </a:solidFill>
                <a:latin typeface="楷体"/>
                <a:ea typeface="楷体"/>
              </a:rPr>
              <a:t>Model（推理核心）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319272"/>
            <a:ext cx="64922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Claude API，只负责推理，完全无状态。不持有任何会话状态——所有状态都由 Harness 管理。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160520"/>
            <a:ext cx="365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1D4ED8"/>
                </a:solidFill>
                <a:latin typeface="Times New Roman"/>
                <a:ea typeface="Times New Roman"/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160520"/>
            <a:ext cx="6583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F172A"/>
                </a:solidFill>
                <a:latin typeface="楷体"/>
                <a:ea typeface="楷体"/>
              </a:rPr>
              <a:t>核心关系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507992"/>
            <a:ext cx="64922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Model 是大脑，Harness 是神经系统+肌肉。没有 Harness，推理停留在对话框；没有 Model，Harness 不知道该做什么。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6053328"/>
            <a:ext cx="7406640" cy="47548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Claude Code  =  Claude API（推理） + Harness（执行环境）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楷体"/>
                <a:ea typeface="楷体"/>
              </a:rPr>
              <a:t>02  |  四层体系总览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AD0F8"/>
                </a:solidFill>
                <a:latin typeface="Times New Roman"/>
                <a:ea typeface="Times New Roman"/>
              </a:rPr>
              <a:t>L1 Execution  ·  L2 Context  ·  L3 Control  ·  L4 Extension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" y="1097280"/>
            <a:ext cx="11887200" cy="109728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176" y="1408176"/>
            <a:ext cx="502920" cy="475488"/>
          </a:xfrm>
          <a:prstGeom prst="roundRect">
            <a:avLst>
              <a:gd name="adj" fmla="val 4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L4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188720"/>
            <a:ext cx="6858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6D28D9"/>
                </a:solidFill>
                <a:latin typeface="Times New Roman"/>
                <a:ea typeface="Times New Roman"/>
              </a:rPr>
              <a:t>扩展层  Extension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609344"/>
            <a:ext cx="5943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MCP Servers  ·  Hooks  ·  Skills  ·  Custom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0808" y="1207007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64748B"/>
                </a:solidFill>
                <a:latin typeface="楷体"/>
                <a:ea typeface="楷体"/>
              </a:rPr>
              <a:t>外部能力注入，无限可扩展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7" y="2249424"/>
            <a:ext cx="10789920" cy="10972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5" y="2560320"/>
            <a:ext cx="502920" cy="47548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L3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5" y="2340864"/>
            <a:ext cx="6858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D97706"/>
                </a:solidFill>
                <a:latin typeface="Times New Roman"/>
                <a:ea typeface="Times New Roman"/>
              </a:rPr>
              <a:t>控制层  Control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5" y="2761488"/>
            <a:ext cx="5943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Permissions  ·  Plan Mode  ·  Budget  · 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359152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64748B"/>
                </a:solidFill>
                <a:latin typeface="楷体"/>
                <a:ea typeface="楷体"/>
              </a:rPr>
              <a:t>安全边界与行为约束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2728" y="3401568"/>
            <a:ext cx="9692640" cy="109728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62456" y="3712463"/>
            <a:ext cx="502920" cy="475488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2536" y="3493008"/>
            <a:ext cx="6858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59669"/>
                </a:solidFill>
                <a:latin typeface="Times New Roman"/>
                <a:ea typeface="Times New Roman"/>
              </a:rPr>
              <a:t>上下文层  Context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02536" y="3913631"/>
            <a:ext cx="5943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CLAUDE.md  ·  Memory Files  ·  Dialog History  ·  Prompt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7" y="3511296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64748B"/>
                </a:solidFill>
                <a:latin typeface="楷体"/>
                <a:ea typeface="楷体"/>
              </a:rPr>
              <a:t>知识注入与对话管理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01367" y="4553712"/>
            <a:ext cx="8595360" cy="10972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11095" y="4864608"/>
            <a:ext cx="502920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L1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1175" y="4645152"/>
            <a:ext cx="6858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D4ED8"/>
                </a:solidFill>
                <a:latin typeface="Times New Roman"/>
                <a:ea typeface="Times New Roman"/>
              </a:rPr>
              <a:t>执行层  Execution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1175" y="5065776"/>
            <a:ext cx="5943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QueryEngine  →  QueryLoop  →  StreamingToolExecutor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4663440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64748B"/>
                </a:solidFill>
                <a:latin typeface="楷体"/>
                <a:ea typeface="楷体"/>
              </a:rPr>
              <a:t>唯一真正执行的层，驱动整个循环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016752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楷体"/>
                <a:ea typeface="楷体"/>
              </a:rPr>
              <a:t>关键认知：L1 是唯一真正「执行」的层。Claude API 在 L1 核心但完全无状态——所有状态（对话历史、权限规则、记忆文件）由 L2/L3 层的 Harness 持有。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楷体"/>
                <a:ea typeface="楷体"/>
              </a:rPr>
              <a:t>03  |  启动序列  ·  从命令行到 QueryLoop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AD0F8"/>
                </a:solidFill>
                <a:latin typeface="Times New Roman"/>
                <a:ea typeface="Times New Roman"/>
              </a:rPr>
              <a:t>$ claude  →  7 Phases  →  QueryLoop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669280" cy="1078992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99031"/>
            <a:ext cx="475488" cy="47548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70432"/>
            <a:ext cx="4892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D97706"/>
                </a:solidFill>
                <a:latin typeface="楷体"/>
                <a:ea typeface="楷体"/>
              </a:rPr>
              <a:t>配置加载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72768"/>
            <a:ext cx="4892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E293B"/>
                </a:solidFill>
                <a:latin typeface="Times New Roman"/>
                <a:ea typeface="Times New Roman"/>
              </a:rPr>
              <a:t>三层覆盖：~/.claude/settings.json → .claude/settings.local.json → CLI flags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12648" y="2203704"/>
            <a:ext cx="164592" cy="201168"/>
          </a:xfrm>
          <a:prstGeom prst="down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395728"/>
            <a:ext cx="5669280" cy="1078992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4892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9669"/>
                </a:solidFill>
                <a:latin typeface="楷体"/>
                <a:ea typeface="楷体"/>
              </a:rPr>
              <a:t>上下文发现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71216"/>
            <a:ext cx="4892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E293B"/>
                </a:solidFill>
                <a:latin typeface="Times New Roman"/>
                <a:ea typeface="Times New Roman"/>
              </a:rPr>
              <a:t>检测 git root；链式向上加载所有 CLAUDE.md；加载 Memory 文件（≤200行）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12648" y="3502152"/>
            <a:ext cx="164592" cy="201168"/>
          </a:xfrm>
          <a:prstGeom prst="down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3694176"/>
            <a:ext cx="5669280" cy="1078992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99592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767328"/>
            <a:ext cx="4892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D28D9"/>
                </a:solidFill>
                <a:latin typeface="楷体"/>
                <a:ea typeface="楷体"/>
              </a:rPr>
              <a:t>扩展初始化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69664"/>
            <a:ext cx="4892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E293B"/>
                </a:solidFill>
                <a:latin typeface="Times New Roman"/>
                <a:ea typeface="Times New Roman"/>
              </a:rPr>
              <a:t>预缓存 Skill 元数据（懒加载）；启动 MCP 子进程；注册 Hooks 事件处理器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12648" y="4800600"/>
            <a:ext cx="164592" cy="201168"/>
          </a:xfrm>
          <a:prstGeom prst="down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4992624"/>
            <a:ext cx="5669280" cy="1078992"/>
          </a:xfrm>
          <a:prstGeom prst="roundRect">
            <a:avLst>
              <a:gd name="adj" fmla="val 4000"/>
            </a:avLst>
          </a:prstGeom>
          <a:solidFill>
            <a:srgbClr val="CFFAF8"/>
          </a:solidFill>
          <a:ln w="12700">
            <a:solidFill>
              <a:srgbClr val="04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5294376"/>
            <a:ext cx="475488" cy="475488"/>
          </a:xfrm>
          <a:prstGeom prst="roundRect">
            <a:avLst>
              <a:gd name="adj" fmla="val 4000"/>
            </a:avLst>
          </a:prstGeom>
          <a:solidFill>
            <a:srgbClr val="04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065776"/>
            <a:ext cx="4892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47A85"/>
                </a:solidFill>
                <a:latin typeface="楷体"/>
                <a:ea typeface="楷体"/>
              </a:rPr>
              <a:t>工具注册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468112"/>
            <a:ext cx="4892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E293B"/>
                </a:solidFill>
                <a:latin typeface="Times New Roman"/>
                <a:ea typeface="Times New Roman"/>
              </a:rPr>
              <a:t>组装 tools[]：45+ 内置工具 + MCP 动态工具（Skill 工具此时不加载）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097280"/>
            <a:ext cx="5669280" cy="1078992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1399031"/>
            <a:ext cx="475488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P5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170432"/>
            <a:ext cx="4892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D4ED8"/>
                </a:solidFill>
                <a:latin typeface="楷体"/>
                <a:ea typeface="楷体"/>
              </a:rPr>
              <a:t>引擎实例化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572768"/>
            <a:ext cx="4892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E293B"/>
                </a:solidFill>
                <a:latin typeface="Times New Roman"/>
                <a:ea typeface="Times New Roman"/>
              </a:rPr>
              <a:t>创建 QueryEngine 会话级单例，绑定 BudgetTracker、权限函数 useCanUseTool()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6419088" y="2203704"/>
            <a:ext cx="164592" cy="201168"/>
          </a:xfrm>
          <a:prstGeom prst="down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72200" y="2395728"/>
            <a:ext cx="5669280" cy="1078992"/>
          </a:xfrm>
          <a:prstGeom prst="roundRect">
            <a:avLst>
              <a:gd name="adj" fmla="val 4000"/>
            </a:avLst>
          </a:prstGeom>
          <a:solidFill>
            <a:srgbClr val="FDE8FF"/>
          </a:solidFill>
          <a:ln w="12700">
            <a:solidFill>
              <a:srgbClr val="A21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63640" y="2697480"/>
            <a:ext cx="475488" cy="475488"/>
          </a:xfrm>
          <a:prstGeom prst="roundRect">
            <a:avLst>
              <a:gd name="adj" fmla="val 4000"/>
            </a:avLst>
          </a:prstGeom>
          <a:solidFill>
            <a:srgbClr val="A21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P6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468880"/>
            <a:ext cx="4892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A21CAF"/>
                </a:solidFill>
                <a:latin typeface="楷体"/>
                <a:ea typeface="楷体"/>
              </a:rPr>
              <a:t>提示组装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871216"/>
            <a:ext cx="4892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E293B"/>
                </a:solidFill>
                <a:latin typeface="Times New Roman"/>
                <a:ea typeface="Times New Roman"/>
              </a:rPr>
              <a:t>3路并行：systemPrompt + userContext + systemContext；预热 Prompt Cache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6419088" y="3502152"/>
            <a:ext cx="164592" cy="201168"/>
          </a:xfrm>
          <a:prstGeom prst="downArrow">
            <a:avLst/>
          </a:prstGeom>
          <a:solidFill>
            <a:srgbClr val="A21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3694176"/>
            <a:ext cx="5669280" cy="1078992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3995928"/>
            <a:ext cx="475488" cy="475488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P7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767328"/>
            <a:ext cx="4892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9669"/>
                </a:solidFill>
                <a:latin typeface="楷体"/>
                <a:ea typeface="楷体"/>
              </a:rPr>
              <a:t>会话启动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169664"/>
            <a:ext cx="4892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E293B"/>
                </a:solidFill>
                <a:latin typeface="Times New Roman"/>
                <a:ea typeface="Times New Roman"/>
              </a:rPr>
              <a:t>Interactive：显示欢迎屏等待输入  |  Non-interactive：处理 stdin 直接进入循环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419088" y="4800600"/>
            <a:ext cx="164592" cy="201168"/>
          </a:xfrm>
          <a:prstGeom prst="down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72200" y="5065776"/>
            <a:ext cx="5669280" cy="43891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楷体"/>
                <a:ea typeface="楷体"/>
              </a:rPr>
              <a:t>→  进入 QueryLoop（见 幻灯片 04）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楷体"/>
                <a:ea typeface="楷体"/>
              </a:rPr>
              <a:t>04  |  一次请求的旅程  ·  QueryLoop 执行引擎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AD0F8"/>
                </a:solidFill>
                <a:latin typeface="Times New Roman"/>
                <a:ea typeface="Times New Roman"/>
              </a:rPr>
              <a:t>processUserInput → fetchSystemPromptParts → API → Tool? →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029200" cy="713232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D4ED8"/>
                </a:solidFill>
                <a:latin typeface="楷体"/>
                <a:ea typeface="楷体"/>
              </a:rPr>
              <a:t>①  用户输入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252728"/>
            <a:ext cx="6400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processUserInput()  斜杠命令预处理</a:t>
            </a:r>
          </a:p>
        </p:txBody>
      </p:sp>
      <p:sp>
        <p:nvSpPr>
          <p:cNvPr id="8" name="Down Arrow 7"/>
          <p:cNvSpPr/>
          <p:nvPr/>
        </p:nvSpPr>
        <p:spPr>
          <a:xfrm>
            <a:off x="2651760" y="1828800"/>
            <a:ext cx="164592" cy="164592"/>
          </a:xfrm>
          <a:prstGeom prst="down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965960"/>
            <a:ext cx="5029200" cy="713232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59669"/>
                </a:solidFill>
                <a:latin typeface="楷体"/>
                <a:ea typeface="楷体"/>
              </a:rPr>
              <a:t>②  提示组装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121408"/>
            <a:ext cx="6400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fetchSystemPromptParts()  3路并行 → API Payload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651760" y="2697480"/>
            <a:ext cx="164592" cy="164592"/>
          </a:xfrm>
          <a:prstGeom prst="down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834639"/>
            <a:ext cx="5029200" cy="713232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D97706"/>
                </a:solidFill>
                <a:latin typeface="楷体"/>
                <a:ea typeface="楷体"/>
              </a:rPr>
              <a:t>③  模型推理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990087"/>
            <a:ext cx="6400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调用 Claude API（无状态）→ 获取响应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651760" y="3566159"/>
            <a:ext cx="164592" cy="164592"/>
          </a:xfrm>
          <a:prstGeom prst="down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3703320"/>
            <a:ext cx="5029200" cy="713232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6D28D9"/>
                </a:solidFill>
                <a:latin typeface="楷体"/>
                <a:ea typeface="楷体"/>
              </a:rPr>
              <a:t>④  工具调用判断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3858768"/>
            <a:ext cx="6400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stop_reason = tool_use → 进入工具执行分支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651760" y="4434840"/>
            <a:ext cx="164592" cy="164592"/>
          </a:xfrm>
          <a:prstGeom prst="down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4572000"/>
            <a:ext cx="5029200" cy="713232"/>
          </a:xfrm>
          <a:prstGeom prst="roundRect">
            <a:avLst>
              <a:gd name="adj" fmla="val 4000"/>
            </a:avLst>
          </a:prstGeom>
          <a:solidFill>
            <a:srgbClr val="CF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47A85"/>
                </a:solidFill>
                <a:latin typeface="楷体"/>
                <a:ea typeface="楷体"/>
              </a:rPr>
              <a:t>⑤  权限检查 + 执行工具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727448"/>
            <a:ext cx="6400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useCanUseTool() → StreamingToolExecutor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651760" y="5303520"/>
            <a:ext cx="164592" cy="164592"/>
          </a:xfrm>
          <a:prstGeom prst="downArrow">
            <a:avLst/>
          </a:prstGeom>
          <a:solidFill>
            <a:srgbClr val="04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5440680"/>
            <a:ext cx="5029200" cy="713232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59669"/>
                </a:solidFill>
                <a:latin typeface="楷体"/>
                <a:ea typeface="楷体"/>
              </a:rPr>
              <a:t>⑥  输出/继续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5596128"/>
            <a:ext cx="6400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end_turn → display_output + Stop Hooks + 等待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097280"/>
            <a:ext cx="73152" cy="49377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3200400"/>
            <a:ext cx="457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4338CA"/>
                </a:solidFill>
                <a:latin typeface="楷体"/>
                <a:ea typeface="楷体"/>
              </a:rPr>
              <a:t>循
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1097280"/>
            <a:ext cx="6035040" cy="502920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261872"/>
            <a:ext cx="5577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  <a:latin typeface="楷体"/>
                <a:ea typeface="楷体"/>
              </a:rPr>
              <a:t>QueryLoop 三大核心数据结构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1783080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D4ED8"/>
                </a:solidFill>
                <a:latin typeface="Times New Roman"/>
                <a:ea typeface="Times New Roman"/>
              </a:rPr>
              <a:t>QueryState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121408"/>
            <a:ext cx="55778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跨轮次可变状态容器
  turn_count · transition · continuation_count
  has_attempted_compact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953512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59669"/>
                </a:solidFill>
                <a:latin typeface="Times New Roman"/>
                <a:ea typeface="Times New Roman"/>
              </a:rPr>
              <a:t>stop_reason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291839"/>
            <a:ext cx="55778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循环控制信号
  end_turn  →  退出循环，输出响应
  tool_use  →  继续，进入工具执行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123944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97706"/>
                </a:solidFill>
                <a:latin typeface="Times New Roman"/>
                <a:ea typeface="Times New Roman"/>
              </a:rPr>
              <a:t>TransitionReason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462272"/>
            <a:ext cx="55778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继续原因标记（debug 友好）
  tool_result_continuation  |  compact_retry
  max_tokens_recovery  |  transport_retry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6080760"/>
            <a:ext cx="11430000" cy="47548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楷体"/>
                <a:ea typeface="楷体"/>
              </a:rPr>
              <a:t>关键认知：QueryLoop 是永动机，只有两个出口——stop_reason=end_turn（正常结束）或预算耗尽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楷体"/>
                <a:ea typeface="楷体"/>
              </a:rPr>
              <a:t>05  |  工具执行引擎  ·  45+ 工具的并发调度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AD0F8"/>
                </a:solidFill>
                <a:latin typeface="Times New Roman"/>
                <a:ea typeface="Times New Roman"/>
              </a:rPr>
              <a:t>StreamingToolExecutor  ·  isConcurrencySafe  ·  persistedOutput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59669"/>
                </a:solidFill>
                <a:latin typeface="楷体"/>
                <a:ea typeface="楷体"/>
              </a:rPr>
              <a:t>并发安全（isConcurrencySafe = true）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36192"/>
            <a:ext cx="960120" cy="475488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59669"/>
                </a:solidFill>
                <a:latin typeface="Times New Roman"/>
                <a:ea typeface="Times New Roman"/>
              </a:rPr>
              <a:t>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6464" y="1536192"/>
            <a:ext cx="960120" cy="475488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59669"/>
                </a:solidFill>
                <a:latin typeface="Times New Roman"/>
                <a:ea typeface="Times New Roman"/>
              </a:rPr>
              <a:t>Glob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1536192"/>
            <a:ext cx="960120" cy="475488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59669"/>
                </a:solidFill>
                <a:latin typeface="Times New Roman"/>
                <a:ea typeface="Times New Roman"/>
              </a:rPr>
              <a:t>Grep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1" y="1536192"/>
            <a:ext cx="960120" cy="475488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59669"/>
                </a:solidFill>
                <a:latin typeface="Times New Roman"/>
                <a:ea typeface="Times New Roman"/>
              </a:rPr>
              <a:t>WebFetch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8576" y="1536192"/>
            <a:ext cx="960120" cy="475488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59669"/>
                </a:solidFill>
                <a:latin typeface="Times New Roman"/>
                <a:ea typeface="Times New Roman"/>
              </a:rPr>
              <a:t>WebSearch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C2626"/>
                </a:solidFill>
                <a:latin typeface="楷体"/>
                <a:ea typeface="楷体"/>
              </a:rPr>
              <a:t>串行执行（isConcurrencySafe = false）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51760"/>
            <a:ext cx="960120" cy="475488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DC2626"/>
                </a:solidFill>
                <a:latin typeface="Times New Roman"/>
                <a:ea typeface="Times New Roman"/>
              </a:rPr>
              <a:t>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2651760"/>
            <a:ext cx="960120" cy="475488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DC2626"/>
                </a:solidFill>
                <a:latin typeface="Times New Roman"/>
                <a:ea typeface="Times New Roman"/>
              </a:rPr>
              <a:t>Edit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2651760"/>
            <a:ext cx="960120" cy="475488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DC2626"/>
                </a:solidFill>
                <a:latin typeface="Times New Roman"/>
                <a:ea typeface="Times New Roman"/>
              </a:rPr>
              <a:t>Bash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7871" y="2651760"/>
            <a:ext cx="960120" cy="475488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DC2626"/>
                </a:solidFill>
                <a:latin typeface="Times New Roman"/>
                <a:ea typeface="Times New Roman"/>
              </a:rPr>
              <a:t>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08576" y="2651760"/>
            <a:ext cx="960120" cy="475488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DC2626"/>
                </a:solidFill>
                <a:latin typeface="Times New Roman"/>
                <a:ea typeface="Times New Roman"/>
              </a:rPr>
              <a:t>NotebookEdit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33756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D4ED8"/>
                </a:solidFill>
                <a:latin typeface="楷体"/>
                <a:ea typeface="楷体"/>
              </a:rPr>
              <a:t>TrackedTool  —  工具执行状态封装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5303520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interface TrackedTool {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96511"/>
            <a:ext cx="5303520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  id:                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43983"/>
            <a:ext cx="5303520" cy="329184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D4ED8"/>
                </a:solidFill>
                <a:latin typeface="Times New Roman"/>
                <a:ea typeface="Times New Roman"/>
              </a:rPr>
              <a:t>  isConcurrencySafe: boolean  ← 并发标志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91456"/>
            <a:ext cx="5303520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  status: 'pending'|'running'|'done'|'error'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38927"/>
            <a:ext cx="5303520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  abortController:  AbortController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86400"/>
            <a:ext cx="5303520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1097280"/>
            <a:ext cx="6080760" cy="507492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234440"/>
            <a:ext cx="5669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  <a:latin typeface="Times New Roman"/>
                <a:ea typeface="Times New Roman"/>
              </a:rPr>
              <a:t>工具输出持久化策略  persistedOutput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1783080"/>
            <a:ext cx="2194560" cy="4754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通用工具阈值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0768" y="1783080"/>
            <a:ext cx="3383280" cy="475488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D4ED8"/>
                </a:solidFill>
                <a:latin typeface="Times New Roman"/>
                <a:ea typeface="Times New Roman"/>
              </a:rPr>
              <a:t>50 KB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2606040"/>
            <a:ext cx="2194560" cy="4754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Bash 阈值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30768" y="2606040"/>
            <a:ext cx="3383280" cy="475488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D97706"/>
                </a:solidFill>
                <a:latin typeface="Times New Roman"/>
                <a:ea typeface="Times New Roman"/>
              </a:rPr>
              <a:t>30 KB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429000"/>
            <a:ext cx="2194560" cy="4754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存储路径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30768" y="3429000"/>
            <a:ext cx="3383280" cy="475488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47A85"/>
                </a:solidFill>
                <a:latin typeface="Times New Roman"/>
                <a:ea typeface="Times New Roman"/>
              </a:rPr>
              <a:t>.task_outputs/tool-results/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251960"/>
            <a:ext cx="2194560" cy="4754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消息替换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30768" y="4251960"/>
            <a:ext cx="3383280" cy="475488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D28D9"/>
                </a:solidFill>
                <a:latin typeface="Times New Roman"/>
                <a:ea typeface="Times New Roman"/>
              </a:rPr>
              <a:t>&lt;persisted-output&gt; 预览标记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5074920"/>
            <a:ext cx="2194560" cy="47548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后续读取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30768" y="5074920"/>
            <a:ext cx="3383280" cy="475488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59669"/>
                </a:solidFill>
                <a:latin typeface="Times New Roman"/>
                <a:ea typeface="Times New Roman"/>
              </a:rPr>
              <a:t>模型用 read_file 按需取完整内容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5961888"/>
            <a:ext cx="6080760" cy="475488"/>
          </a:xfrm>
          <a:prstGeom prst="roundRect">
            <a:avLst>
              <a:gd name="adj" fmla="val 4000"/>
            </a:avLst>
          </a:prstGeom>
          <a:solidFill>
            <a:srgbClr val="0D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BAD0F8"/>
                </a:solidFill>
                <a:latin typeface="楷体"/>
                <a:ea typeface="楷体"/>
              </a:rPr>
              <a:t>设计意图：避免大输出占满 Context，磁盘是无限的，Context 是有限的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楷体"/>
                <a:ea typeface="楷体"/>
              </a:rPr>
              <a:t>06  |  权限决策引擎  ·  五模式安全门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AD0F8"/>
                </a:solidFill>
                <a:latin typeface="Times New Roman"/>
                <a:ea typeface="Times New Roman"/>
              </a:rPr>
              <a:t>useCanUseTool()  ·  Deny &gt; Allow &gt; Confirm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841248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331720" cy="457200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232" y="1152144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D4ED8"/>
                </a:solidFill>
                <a:latin typeface="楷体"/>
                <a:ea typeface="楷体"/>
              </a:rPr>
              <a:t>默认模式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1554480"/>
            <a:ext cx="7132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Deny 规则优先 → Allow 规则 → 其余操作请求用户确认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78440" y="1298448"/>
            <a:ext cx="1280160" cy="438912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FFFFFF"/>
                </a:solidFill>
                <a:latin typeface="楷体"/>
                <a:ea typeface="楷体"/>
              </a:rPr>
              <a:t>日常使用推荐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048256"/>
            <a:ext cx="11430000" cy="841248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231136"/>
            <a:ext cx="2331720" cy="457200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acceptEdits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103120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9669"/>
                </a:solidFill>
                <a:latin typeface="楷体"/>
                <a:ea typeface="楷体"/>
              </a:rPr>
              <a:t>接受编辑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505456"/>
            <a:ext cx="7132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文件编辑类操作自动通过，破坏性命令（rm -rf 等）仍询问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78440" y="2249424"/>
            <a:ext cx="1280160" cy="438912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FFFFFF"/>
                </a:solidFill>
                <a:latin typeface="楷体"/>
                <a:ea typeface="楷体"/>
              </a:rPr>
              <a:t>开发过程提效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999232"/>
            <a:ext cx="11430000" cy="84124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182112"/>
            <a:ext cx="2331720" cy="45720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054096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D97706"/>
                </a:solidFill>
                <a:latin typeface="楷体"/>
                <a:ea typeface="楷体"/>
              </a:rPr>
              <a:t>计划模式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3456432"/>
            <a:ext cx="7132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只读——禁止所有写入和 Shell 执行，适合代码审查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40" y="3200400"/>
            <a:ext cx="1280160" cy="438912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FFFFFF"/>
                </a:solidFill>
                <a:latin typeface="楷体"/>
                <a:ea typeface="楷体"/>
              </a:rPr>
              <a:t>安全审查场景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950208"/>
            <a:ext cx="11430000" cy="841248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133088"/>
            <a:ext cx="2331720" cy="45720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dontAsk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4005072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DC2626"/>
                </a:solidFill>
                <a:latin typeface="楷体"/>
                <a:ea typeface="楷体"/>
              </a:rPr>
              <a:t>免打扰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4407408"/>
            <a:ext cx="7132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跳过所有交互确认，适合 CI/脚本自动化，风险较高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78440" y="4151376"/>
            <a:ext cx="1280160" cy="438912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FFFFFF"/>
                </a:solidFill>
                <a:latin typeface="楷体"/>
                <a:ea typeface="楷体"/>
              </a:rPr>
              <a:t>CI / 脚本专用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901184"/>
            <a:ext cx="11430000" cy="841248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5084064"/>
            <a:ext cx="2331720" cy="457200"/>
          </a:xfrm>
          <a:prstGeom prst="roundRect">
            <a:avLst>
              <a:gd name="adj" fmla="val 4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bypassPermissions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9232" y="4956048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D28D9"/>
                </a:solidFill>
                <a:latin typeface="楷体"/>
                <a:ea typeface="楷体"/>
              </a:rPr>
              <a:t>绕过权限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9232" y="5358384"/>
            <a:ext cx="7132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最高特权：跳过所有安全检查，需显式配置才能启用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5102352"/>
            <a:ext cx="1280160" cy="438912"/>
          </a:xfrm>
          <a:prstGeom prst="roundRect">
            <a:avLst>
              <a:gd name="adj" fmla="val 4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FFFFFF"/>
                </a:solidFill>
                <a:latin typeface="楷体"/>
                <a:ea typeface="楷体"/>
              </a:rPr>
              <a:t>仅限受信任环境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989320"/>
            <a:ext cx="11430000" cy="5029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楷体"/>
                <a:ea typeface="楷体"/>
              </a:rPr>
              <a:t>决策优先级：Deny 规则  ＞  Allow 规则  ＞  用户交互确认（Deny 永远最先判断）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楷体"/>
                <a:ea typeface="楷体"/>
              </a:rPr>
              <a:t>07  |  上下文压缩系统  ·  六策略 Token 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AD0F8"/>
                </a:solidFill>
                <a:latin typeface="Times New Roman"/>
                <a:ea typeface="Times New Roman"/>
              </a:rPr>
              <a:t>autoCompact triggered at 70% 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840480" cy="100584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为什么需要压缩？
读1000行文件 ≈ 4000 tokens
读30文件+20命令 = 100K+
200K 窗口很快就满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43400" y="1417320"/>
            <a:ext cx="365760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28032" y="1097280"/>
            <a:ext cx="7132320" cy="100584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1E293B"/>
                </a:solidFill>
                <a:latin typeface="楷体"/>
                <a:ea typeface="楷体"/>
              </a:rPr>
              <a:t>触发条件：上下文使用量达到 70% 自动触发（保留 30% 缓冲，不等到 100%）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5833872" cy="123444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674620"/>
            <a:ext cx="438912" cy="457200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59152"/>
            <a:ext cx="505663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D4ED8"/>
                </a:solidFill>
                <a:latin typeface="Times New Roman"/>
                <a:ea typeface="Times New Roman"/>
              </a:rPr>
              <a:t>persistedOutput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61488"/>
            <a:ext cx="5056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楷体"/>
                <a:ea typeface="楷体"/>
              </a:rPr>
              <a:t>触发：工具执行时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54096"/>
            <a:ext cx="505663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楷体"/>
                <a:ea typeface="楷体"/>
              </a:rPr>
              <a:t>大输出(&gt;50KB)写磁盘，消息替换为预览标记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38544" y="2286000"/>
            <a:ext cx="5833872" cy="123444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29983" y="2674620"/>
            <a:ext cx="438912" cy="457200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8624" y="2359152"/>
            <a:ext cx="505663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59669"/>
                </a:solidFill>
                <a:latin typeface="Times New Roman"/>
                <a:ea typeface="Times New Roman"/>
              </a:rPr>
              <a:t>microCompact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4" y="2761488"/>
            <a:ext cx="5056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楷体"/>
                <a:ea typeface="楷体"/>
              </a:rPr>
              <a:t>触发：每轮开始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3054096"/>
            <a:ext cx="505663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楷体"/>
                <a:ea typeface="楷体"/>
              </a:rPr>
              <a:t>静默截断超旧的 tool_result 内容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03320"/>
            <a:ext cx="5833872" cy="123444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091939"/>
            <a:ext cx="438912" cy="45720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776472"/>
            <a:ext cx="505663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97706"/>
                </a:solidFill>
                <a:latin typeface="Times New Roman"/>
                <a:ea typeface="Times New Roman"/>
              </a:rPr>
              <a:t>snipCompact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78808"/>
            <a:ext cx="5056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楷体"/>
                <a:ea typeface="楷体"/>
              </a:rPr>
              <a:t>触发：超阈值时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71416"/>
            <a:ext cx="505663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楷体"/>
                <a:ea typeface="楷体"/>
              </a:rPr>
              <a:t>保留首尾，压缩中间对话历史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38544" y="3703320"/>
            <a:ext cx="5833872" cy="1234440"/>
          </a:xfrm>
          <a:prstGeom prst="roundRect">
            <a:avLst>
              <a:gd name="adj" fmla="val 4000"/>
            </a:avLst>
          </a:prstGeom>
          <a:solidFill>
            <a:srgbClr val="CFFAF8"/>
          </a:solidFill>
          <a:ln w="12700">
            <a:solidFill>
              <a:srgbClr val="04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29983" y="4091939"/>
            <a:ext cx="438912" cy="457200"/>
          </a:xfrm>
          <a:prstGeom prst="roundRect">
            <a:avLst>
              <a:gd name="adj" fmla="val 4000"/>
            </a:avLst>
          </a:prstGeom>
          <a:solidFill>
            <a:srgbClr val="04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3776472"/>
            <a:ext cx="505663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47A85"/>
                </a:solidFill>
                <a:latin typeface="Times New Roman"/>
                <a:ea typeface="Times New Roman"/>
              </a:rPr>
              <a:t>reactiveCompact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8624" y="4178808"/>
            <a:ext cx="5056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楷体"/>
                <a:ea typeface="楷体"/>
              </a:rPr>
              <a:t>触发：实时检测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8624" y="4471416"/>
            <a:ext cx="505663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楷体"/>
                <a:ea typeface="楷体"/>
              </a:rPr>
              <a:t>动态裁剪，优先保留最近内容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120640"/>
            <a:ext cx="5833872" cy="123444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5509259"/>
            <a:ext cx="438912" cy="457200"/>
          </a:xfrm>
          <a:prstGeom prst="roundRect">
            <a:avLst>
              <a:gd name="adj" fmla="val 4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193792"/>
            <a:ext cx="505663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D28D9"/>
                </a:solidFill>
                <a:latin typeface="Times New Roman"/>
                <a:ea typeface="Times New Roman"/>
              </a:rPr>
              <a:t>contextCollapse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96127"/>
            <a:ext cx="5056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楷体"/>
                <a:ea typeface="楷体"/>
              </a:rPr>
              <a:t>触发：会话过长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888736"/>
            <a:ext cx="505663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楷体"/>
                <a:ea typeface="楷体"/>
              </a:rPr>
              <a:t>多轮对话合并为压缩摘要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38544" y="5120640"/>
            <a:ext cx="5833872" cy="123444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29983" y="5509259"/>
            <a:ext cx="438912" cy="45720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8624" y="5193792"/>
            <a:ext cx="505663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C2626"/>
                </a:solidFill>
                <a:latin typeface="Times New Roman"/>
                <a:ea typeface="Times New Roman"/>
              </a:rPr>
              <a:t>autoCompact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8624" y="5596127"/>
            <a:ext cx="5056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楷体"/>
                <a:ea typeface="楷体"/>
              </a:rPr>
              <a:t>触发：70% 阈值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8624" y="5888736"/>
            <a:ext cx="505663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楷体"/>
                <a:ea typeface="楷体"/>
              </a:rPr>
              <a:t>调用 Claude API 生成高质量摘要（最强）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楷体"/>
                <a:ea typeface="楷体"/>
              </a:rPr>
              <a:t>08  |  记忆与提示组装  ·  四层记忆体系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AD0F8"/>
                </a:solidFill>
                <a:latin typeface="Times New Roman"/>
                <a:ea typeface="Times New Roman"/>
              </a:rPr>
              <a:t>CLAUDE.md → Dialog → Memory Files → Prompt Cache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486400" cy="1024128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02920" cy="475488"/>
          </a:xfrm>
          <a:prstGeom prst="roundRect">
            <a:avLst>
              <a:gd name="adj" fmla="val 4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4480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D4ED8"/>
                </a:solidFill>
                <a:latin typeface="Times New Roman"/>
                <a:ea typeface="Times New Roman"/>
              </a:rPr>
              <a:t>CLAUDE.md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91056"/>
            <a:ext cx="4480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楷体"/>
                <a:ea typeface="楷体"/>
              </a:rPr>
              <a:t>固定上下文，每次启动自动加载，可 git 提交，团队共享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267712"/>
            <a:ext cx="5486400" cy="1024128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542032"/>
            <a:ext cx="502920" cy="475488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</a:rPr>
              <a:t>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40864"/>
            <a:ext cx="4480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9669"/>
                </a:solidFill>
                <a:latin typeface="楷体"/>
                <a:ea typeface="楷体"/>
              </a:rPr>
              <a:t>对话历史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61488"/>
            <a:ext cx="4480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楷体"/>
                <a:ea typeface="楷体"/>
              </a:rPr>
              <a:t>当前会话动态增长，70% 时触发压缩，会话结束后丢失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438144"/>
            <a:ext cx="5486400" cy="102412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3712463"/>
            <a:ext cx="502920" cy="47548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</a:rPr>
              <a:t>L3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11296"/>
            <a:ext cx="4480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D97706"/>
                </a:solidFill>
                <a:latin typeface="Times New Roman"/>
                <a:ea typeface="Times New Roman"/>
              </a:rPr>
              <a:t>Memory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31920"/>
            <a:ext cx="4480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楷体"/>
                <a:ea typeface="楷体"/>
              </a:rPr>
              <a:t>.claude/memory/MEMORY.md，跨会话持久，≤200行/25KB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608576"/>
            <a:ext cx="5486400" cy="1024128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4882896"/>
            <a:ext cx="502920" cy="475488"/>
          </a:xfrm>
          <a:prstGeom prst="roundRect">
            <a:avLst>
              <a:gd name="adj" fmla="val 4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</a:rP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681728"/>
            <a:ext cx="4480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D28D9"/>
                </a:solidFill>
                <a:latin typeface="Times New Roman"/>
                <a:ea typeface="Times New Roman"/>
              </a:rPr>
              <a:t>Prompt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102352"/>
            <a:ext cx="4480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楷体"/>
                <a:ea typeface="楷体"/>
              </a:rPr>
              <a:t>重复内容零费用，命中率 40-95%，节省 40-60% Token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097280"/>
            <a:ext cx="5897880" cy="512064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34440"/>
            <a:ext cx="5486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  <a:latin typeface="Times New Roman"/>
                <a:ea typeface="Times New Roman"/>
              </a:rPr>
              <a:t>fetchSystemPromptParts()  —  3路并行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783080"/>
            <a:ext cx="2377440" cy="594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D4ED8"/>
                </a:solidFill>
                <a:latin typeface="Times New Roman"/>
                <a:ea typeface="Times New Roman"/>
              </a:rPr>
              <a:t>systemPrompt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828800"/>
            <a:ext cx="2971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核心人格 + 工具描述 + 安全规则
静态，Prompt Cache 命中率最高（60-95%）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441448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1D4ED8"/>
                </a:solidFill>
                <a:latin typeface="Times New Roman"/>
                <a:ea typeface="Times New Roman"/>
              </a:rPr>
              <a:t>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200400"/>
            <a:ext cx="2377440" cy="594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59669"/>
                </a:solidFill>
                <a:latin typeface="Times New Roman"/>
                <a:ea typeface="Times New Roman"/>
              </a:rPr>
              <a:t>userContext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246120"/>
            <a:ext cx="2971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CLAUDE.md + Memory Files + 用户偏好
半静态，项目内基本稳定（80%+）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858768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1D4ED8"/>
                </a:solidFill>
                <a:latin typeface="Times New Roman"/>
                <a:ea typeface="Times New Roman"/>
              </a:rPr>
              <a:t>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617720"/>
            <a:ext cx="2377440" cy="594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D97706"/>
                </a:solidFill>
                <a:latin typeface="Times New Roman"/>
                <a:ea typeface="Times New Roman"/>
              </a:rPr>
              <a:t>systemContext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4663440"/>
            <a:ext cx="2971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环境信息 + Hooks 指引 + 可用命令
动态，每次对话略有不同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6035040"/>
            <a:ext cx="5532120" cy="34747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</a:rPr>
              <a:t>→  合并为最终 system prompt blocks[]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989320"/>
            <a:ext cx="5486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楷体"/>
                <a:ea typeface="楷体"/>
              </a:rPr>
              <a:t>Prompt Cache 关键：首次建立缓存，后续同目录请求命中，Token 成本降低 40-60%。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楷体"/>
                <a:ea typeface="楷体"/>
              </a:rPr>
              <a:t>09  |  扩展能力三件套  ·  Hooks · MCP ·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AD0F8"/>
                </a:solidFill>
                <a:latin typeface="Times New Roman"/>
                <a:ea typeface="Times New Roman"/>
              </a:rPr>
              <a:t>Extension Layer: Event-driven  ·  Protocol-based  ·  Template-based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749039" cy="59436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</a:rPr>
              <a:t>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64748B"/>
                </a:solidFill>
                <a:latin typeface="楷体"/>
                <a:ea typeface="楷体"/>
              </a:rPr>
              <a:t>事件驱动的 Shell 扩展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31720"/>
            <a:ext cx="3749039" cy="27432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487168"/>
            <a:ext cx="3493007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• PreToolUse  — 工具前，可阻止（exit 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081528"/>
            <a:ext cx="3493007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• PostToolUse — 工具后，后处理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675888"/>
            <a:ext cx="3493007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• Stop        — 最终输出时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270248"/>
            <a:ext cx="3493007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• UserPromptSubmit — 输入预处理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193792"/>
            <a:ext cx="3749039" cy="59436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楷体"/>
                <a:ea typeface="楷体"/>
              </a:rPr>
              <a:t>exit 0 通过 · exit 1 阻止 · exit 2 注入消息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097280"/>
            <a:ext cx="3749039" cy="594360"/>
          </a:xfrm>
          <a:prstGeom prst="roundRect">
            <a:avLst>
              <a:gd name="adj" fmla="val 4000"/>
            </a:avLst>
          </a:prstGeom>
          <a:solidFill>
            <a:srgbClr val="04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</a:rPr>
              <a:t>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83080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64748B"/>
                </a:solidFill>
                <a:latin typeface="楷体"/>
                <a:ea typeface="楷体"/>
              </a:rPr>
              <a:t>Model Context Protocol
外部能力注入协议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331720"/>
            <a:ext cx="3749039" cy="2743200"/>
          </a:xfrm>
          <a:prstGeom prst="roundRect">
            <a:avLst>
              <a:gd name="adj" fmla="val 4000"/>
            </a:avLst>
          </a:prstGeom>
          <a:solidFill>
            <a:srgbClr val="CFFAF8"/>
          </a:solidFill>
          <a:ln w="12700">
            <a:solidFill>
              <a:srgbClr val="04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2487168"/>
            <a:ext cx="3493007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• 传输层：stdio / SSE / HTTP / WebSocket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3081528"/>
            <a:ext cx="3493007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• 能力类型：Tools / Resources / Prompts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675888"/>
            <a:ext cx="3493007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• JSON-RPC 2.0 标准协议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4270248"/>
            <a:ext cx="3493007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• 连接失败非致命（warn + skip）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5193792"/>
            <a:ext cx="3749039" cy="594360"/>
          </a:xfrm>
          <a:prstGeom prst="roundRect">
            <a:avLst>
              <a:gd name="adj" fmla="val 4000"/>
            </a:avLst>
          </a:prstGeom>
          <a:solidFill>
            <a:srgbClr val="04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楷体"/>
                <a:ea typeface="楷体"/>
              </a:rPr>
              <a:t>让 Claude 连接任意外部服务与工具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097280"/>
            <a:ext cx="3749039" cy="594360"/>
          </a:xfrm>
          <a:prstGeom prst="roundRect">
            <a:avLst>
              <a:gd name="adj" fmla="val 4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</a:rPr>
              <a:t>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783080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64748B"/>
                </a:solidFill>
                <a:latin typeface="楷体"/>
                <a:ea typeface="楷体"/>
              </a:rPr>
              <a:t>可复用任务执行模板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331720"/>
            <a:ext cx="3749039" cy="27432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2487168"/>
            <a:ext cx="3493007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• SKILL.md 定义触发词与执行流程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3081528"/>
            <a:ext cx="3493007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• 元数据启动预缓存，内容懒加载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675888"/>
            <a:ext cx="3493007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• 斜杠命令 /skill-name 触发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270248"/>
            <a:ext cx="3493007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E293B"/>
                </a:solidFill>
                <a:latin typeface="Times New Roman"/>
                <a:ea typeface="Times New Roman"/>
              </a:rPr>
              <a:t>• 支持项目级 + 全局用户级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5193792"/>
            <a:ext cx="3749039" cy="594360"/>
          </a:xfrm>
          <a:prstGeom prst="roundRect">
            <a:avLst>
              <a:gd name="adj" fmla="val 4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楷体"/>
                <a:ea typeface="楷体"/>
              </a:rPr>
              <a:t>将复杂工作流沉淀为一行命令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6016752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E293B"/>
                </a:solidFill>
                <a:latin typeface="楷体"/>
                <a:ea typeface="楷体"/>
              </a:rPr>
              <a:t>本质区别：Hooks 是事件响应（被动）；MCP 是能力注入（主动扩展工具集）；Skills 是工作流沉淀（复用模板）。三者正交，可同时使用。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97512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楷体"/>
                <a:ea typeface="楷体"/>
              </a:rPr>
              <a:t>10  |  关键设计哲学  ·  核心洞察与总结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0D20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" y="1097280"/>
            <a:ext cx="5193792" cy="47548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F172A"/>
                </a:solidFill>
                <a:latin typeface="楷体"/>
                <a:ea typeface="楷体"/>
              </a:rPr>
              <a:t>状态分离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5029200" cy="1261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AD3E3"/>
                </a:solidFill>
                <a:latin typeface="楷体"/>
                <a:ea typeface="楷体"/>
              </a:rPr>
              <a:t>Claude API 完全无状态，所有状态由 Harness 管理。这保证了推理的纯粹性，也使 Harness 成为可扩展的工程平台。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00584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0D204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64808" y="1097280"/>
            <a:ext cx="5193792" cy="475488"/>
          </a:xfrm>
          <a:prstGeom prst="roundRect">
            <a:avLst>
              <a:gd name="adj" fmla="val 4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F172A"/>
                </a:solidFill>
                <a:latin typeface="楷体"/>
                <a:ea typeface="楷体"/>
              </a:rPr>
              <a:t>懒加载优先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1691640"/>
            <a:ext cx="5029200" cy="1261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AD3E3"/>
                </a:solidFill>
                <a:latin typeface="楷体"/>
                <a:ea typeface="楷体"/>
              </a:rPr>
              <a:t>Skill 内容不在启动时加载，工具输出超限才写磁盘。按需加载是 Context 高效利用的核心原则。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9184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0D2042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" y="3383280"/>
            <a:ext cx="5193792" cy="475488"/>
          </a:xfrm>
          <a:prstGeom prst="roundRect">
            <a:avLst>
              <a:gd name="adj" fmla="val 4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F172A"/>
                </a:solidFill>
                <a:latin typeface="楷体"/>
                <a:ea typeface="楷体"/>
              </a:rPr>
              <a:t>失败不阻断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977639"/>
            <a:ext cx="5029200" cy="1261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AD3E3"/>
                </a:solidFill>
                <a:latin typeface="楷体"/>
                <a:ea typeface="楷体"/>
              </a:rPr>
              <a:t>MCP 连接失败只 warn 不中断会话；工具报错不退出 QueryLoop。局部故障不影响整体可用性。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29184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0D2042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64808" y="3383280"/>
            <a:ext cx="5193792" cy="475488"/>
          </a:xfrm>
          <a:prstGeom prst="roundRect">
            <a:avLst>
              <a:gd name="adj" fmla="val 40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F172A"/>
                </a:solidFill>
                <a:latin typeface="楷体"/>
                <a:ea typeface="楷体"/>
              </a:rPr>
              <a:t>缓存即节省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977639"/>
            <a:ext cx="5029200" cy="1261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AD3E3"/>
                </a:solidFill>
                <a:latin typeface="楷体"/>
                <a:ea typeface="楷体"/>
              </a:rPr>
              <a:t>Prompt Cache 对稳定内容命中率可达 95%，是降低 Token 成本最具性价比的手段。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557784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0D2042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64808" y="5669279"/>
            <a:ext cx="5193792" cy="475488"/>
          </a:xfrm>
          <a:prstGeom prst="roundRect">
            <a:avLst>
              <a:gd name="adj" fmla="val 4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F172A"/>
                </a:solidFill>
                <a:latin typeface="楷体"/>
                <a:ea typeface="楷体"/>
              </a:rPr>
              <a:t>单例即一致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6263640"/>
            <a:ext cx="5029200" cy="1261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AD3E3"/>
                </a:solidFill>
                <a:latin typeface="楷体"/>
                <a:ea typeface="楷体"/>
              </a:rPr>
              <a:t>QueryEngine 是进程级单例，所有状态在一个对象内，保证会话的线性一致性，避免并发竞争。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